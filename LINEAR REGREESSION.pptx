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2" r:id="rId2"/>
    <p:sldId id="263" r:id="rId3"/>
    <p:sldId id="260" r:id="rId4"/>
    <p:sldId id="261" r:id="rId5"/>
    <p:sldId id="265" r:id="rId6"/>
    <p:sldId id="264"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12/6/2025</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12/6/2025</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12/6/2025</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F5185-569D-35E9-5A4D-63CBEFB60303}"/>
              </a:ext>
            </a:extLst>
          </p:cNvPr>
          <p:cNvSpPr>
            <a:spLocks noGrp="1"/>
          </p:cNvSpPr>
          <p:nvPr>
            <p:ph type="title"/>
          </p:nvPr>
        </p:nvSpPr>
        <p:spPr/>
        <p:txBody>
          <a:bodyPr/>
          <a:lstStyle/>
          <a:p>
            <a:r>
              <a:rPr lang="en-US" dirty="0"/>
              <a:t>Predict student marks from hours studied</a:t>
            </a:r>
            <a:endParaRPr lang="en-IN" dirty="0"/>
          </a:p>
        </p:txBody>
      </p:sp>
      <p:sp>
        <p:nvSpPr>
          <p:cNvPr id="3" name="Content Placeholder 2">
            <a:extLst>
              <a:ext uri="{FF2B5EF4-FFF2-40B4-BE49-F238E27FC236}">
                <a16:creationId xmlns:a16="http://schemas.microsoft.com/office/drawing/2014/main" id="{69404281-E201-22C8-BB0D-9E8E64CF79A5}"/>
              </a:ext>
            </a:extLst>
          </p:cNvPr>
          <p:cNvSpPr>
            <a:spLocks noGrp="1"/>
          </p:cNvSpPr>
          <p:nvPr>
            <p:ph idx="1"/>
          </p:nvPr>
        </p:nvSpPr>
        <p:spPr/>
        <p:txBody>
          <a:bodyPr>
            <a:normAutofit/>
          </a:bodyPr>
          <a:lstStyle/>
          <a:p>
            <a:pPr marL="0" indent="0" algn="ctr">
              <a:buNone/>
            </a:pPr>
            <a:r>
              <a:rPr lang="en-US" sz="2800" dirty="0">
                <a:latin typeface="Arial Rounded MT Bold" panose="020F0704030504030204" pitchFamily="34" charset="0"/>
              </a:rPr>
              <a:t>MACHINE LEARNING</a:t>
            </a:r>
          </a:p>
          <a:p>
            <a:pPr marL="0" indent="0" algn="ctr">
              <a:buNone/>
            </a:pPr>
            <a:endParaRPr lang="en-IN" sz="1800" dirty="0">
              <a:latin typeface="Arial Rounded MT Bold" panose="020F0704030504030204" pitchFamily="34" charset="0"/>
            </a:endParaRPr>
          </a:p>
          <a:p>
            <a:pPr marL="0" indent="0">
              <a:buNone/>
            </a:pPr>
            <a:r>
              <a:rPr lang="en-IN" sz="2400" dirty="0">
                <a:latin typeface="Aptos Display" panose="020B0004020202020204" pitchFamily="34" charset="0"/>
              </a:rPr>
              <a:t>NAME: KARTIK SHIRAGUR</a:t>
            </a:r>
          </a:p>
          <a:p>
            <a:pPr marL="0" indent="0">
              <a:buNone/>
            </a:pPr>
            <a:r>
              <a:rPr lang="en-IN" sz="2400" dirty="0">
                <a:latin typeface="Aptos Display" panose="020B0004020202020204" pitchFamily="34" charset="0"/>
              </a:rPr>
              <a:t>COURSE : BCA 5</a:t>
            </a:r>
            <a:r>
              <a:rPr lang="en-IN" sz="2400" baseline="30000" dirty="0">
                <a:latin typeface="Aptos Display" panose="020B0004020202020204" pitchFamily="34" charset="0"/>
              </a:rPr>
              <a:t>TH</a:t>
            </a:r>
            <a:r>
              <a:rPr lang="en-IN" sz="2400" dirty="0">
                <a:latin typeface="Aptos Display" panose="020B0004020202020204" pitchFamily="34" charset="0"/>
              </a:rPr>
              <a:t> SEM</a:t>
            </a:r>
          </a:p>
          <a:p>
            <a:pPr marL="0" indent="0">
              <a:buNone/>
            </a:pPr>
            <a:r>
              <a:rPr lang="en-IN" sz="2400" dirty="0">
                <a:latin typeface="Aptos Display" panose="020B0004020202020204" pitchFamily="34" charset="0"/>
              </a:rPr>
              <a:t>INSTITUTE : DIGITAL DREAMS INSTITUTE</a:t>
            </a:r>
            <a:endParaRPr lang="en-US" sz="3600" dirty="0">
              <a:latin typeface="Aptos Display" panose="020B0004020202020204" pitchFamily="34" charset="0"/>
            </a:endParaRPr>
          </a:p>
        </p:txBody>
      </p:sp>
    </p:spTree>
    <p:extLst>
      <p:ext uri="{BB962C8B-B14F-4D97-AF65-F5344CB8AC3E}">
        <p14:creationId xmlns:p14="http://schemas.microsoft.com/office/powerpoint/2010/main" val="1465050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EBB2D-E324-155D-5D54-5C304E9546ED}"/>
              </a:ext>
            </a:extLst>
          </p:cNvPr>
          <p:cNvSpPr>
            <a:spLocks noGrp="1"/>
          </p:cNvSpPr>
          <p:nvPr>
            <p:ph type="title"/>
          </p:nvPr>
        </p:nvSpPr>
        <p:spPr/>
        <p:txBody>
          <a:bodyPr>
            <a:normAutofit/>
          </a:bodyPr>
          <a:lstStyle/>
          <a:p>
            <a:pPr algn="ctr"/>
            <a:r>
              <a:rPr lang="en-US" sz="2800" b="1" u="sng" dirty="0"/>
              <a:t>introduction</a:t>
            </a:r>
            <a:endParaRPr lang="en-IN" sz="2800" b="1" u="sng" dirty="0"/>
          </a:p>
        </p:txBody>
      </p:sp>
      <p:sp>
        <p:nvSpPr>
          <p:cNvPr id="3" name="Content Placeholder 2">
            <a:extLst>
              <a:ext uri="{FF2B5EF4-FFF2-40B4-BE49-F238E27FC236}">
                <a16:creationId xmlns:a16="http://schemas.microsoft.com/office/drawing/2014/main" id="{1D744DC4-93CB-C646-BA78-9B70CD95985D}"/>
              </a:ext>
            </a:extLst>
          </p:cNvPr>
          <p:cNvSpPr>
            <a:spLocks noGrp="1"/>
          </p:cNvSpPr>
          <p:nvPr>
            <p:ph idx="1"/>
          </p:nvPr>
        </p:nvSpPr>
        <p:spPr>
          <a:xfrm>
            <a:off x="2102305" y="2212377"/>
            <a:ext cx="8359218" cy="3677145"/>
          </a:xfrm>
        </p:spPr>
        <p:txBody>
          <a:bodyPr/>
          <a:lstStyle/>
          <a:p>
            <a:pPr marL="0" indent="0">
              <a:buNone/>
            </a:pPr>
            <a:r>
              <a:rPr lang="en-US" dirty="0"/>
              <a:t> </a:t>
            </a:r>
            <a:r>
              <a:rPr lang="en-US" sz="2400" dirty="0"/>
              <a:t>This project predicts student marks based on the number of hours studied. It uses Simple Linear Regression, a machine learning technique that finds the relationship between two variables. The goal is to understand how study time affects performance</a:t>
            </a:r>
            <a:endParaRPr lang="en-IN" dirty="0"/>
          </a:p>
        </p:txBody>
      </p:sp>
    </p:spTree>
    <p:extLst>
      <p:ext uri="{BB962C8B-B14F-4D97-AF65-F5344CB8AC3E}">
        <p14:creationId xmlns:p14="http://schemas.microsoft.com/office/powerpoint/2010/main" val="1568032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B14DE-652F-C61D-D65E-C9507691554A}"/>
              </a:ext>
            </a:extLst>
          </p:cNvPr>
          <p:cNvSpPr>
            <a:spLocks noGrp="1"/>
          </p:cNvSpPr>
          <p:nvPr>
            <p:ph type="title"/>
          </p:nvPr>
        </p:nvSpPr>
        <p:spPr>
          <a:xfrm>
            <a:off x="1294362" y="1158480"/>
            <a:ext cx="9603275" cy="1049235"/>
          </a:xfrm>
        </p:spPr>
        <p:txBody>
          <a:bodyPr/>
          <a:lstStyle/>
          <a:p>
            <a:pPr algn="ctr"/>
            <a:r>
              <a:rPr lang="en-US" b="1" u="sng" dirty="0"/>
              <a:t>Datasets</a:t>
            </a:r>
            <a:endParaRPr lang="en-IN" b="1" u="sng" dirty="0"/>
          </a:p>
        </p:txBody>
      </p:sp>
      <p:graphicFrame>
        <p:nvGraphicFramePr>
          <p:cNvPr id="6" name="Content Placeholder 5">
            <a:extLst>
              <a:ext uri="{FF2B5EF4-FFF2-40B4-BE49-F238E27FC236}">
                <a16:creationId xmlns:a16="http://schemas.microsoft.com/office/drawing/2014/main" id="{8BD7C5E8-CB39-A977-53A3-301440E4AE4D}"/>
              </a:ext>
            </a:extLst>
          </p:cNvPr>
          <p:cNvGraphicFramePr>
            <a:graphicFrameLocks noGrp="1"/>
          </p:cNvGraphicFramePr>
          <p:nvPr>
            <p:ph idx="1"/>
            <p:extLst>
              <p:ext uri="{D42A27DB-BD31-4B8C-83A1-F6EECF244321}">
                <p14:modId xmlns:p14="http://schemas.microsoft.com/office/powerpoint/2010/main" val="4156459440"/>
              </p:ext>
            </p:extLst>
          </p:nvPr>
        </p:nvGraphicFramePr>
        <p:xfrm>
          <a:off x="1450975" y="2016125"/>
          <a:ext cx="9604374" cy="2225040"/>
        </p:xfrm>
        <a:graphic>
          <a:graphicData uri="http://schemas.openxmlformats.org/drawingml/2006/table">
            <a:tbl>
              <a:tblPr firstRow="1" bandRow="1">
                <a:tableStyleId>{073A0DAA-6AF3-43AB-8588-CEC1D06C72B9}</a:tableStyleId>
              </a:tblPr>
              <a:tblGrid>
                <a:gridCol w="4802187">
                  <a:extLst>
                    <a:ext uri="{9D8B030D-6E8A-4147-A177-3AD203B41FA5}">
                      <a16:colId xmlns:a16="http://schemas.microsoft.com/office/drawing/2014/main" val="993018772"/>
                    </a:ext>
                  </a:extLst>
                </a:gridCol>
                <a:gridCol w="4802187">
                  <a:extLst>
                    <a:ext uri="{9D8B030D-6E8A-4147-A177-3AD203B41FA5}">
                      <a16:colId xmlns:a16="http://schemas.microsoft.com/office/drawing/2014/main" val="1674076296"/>
                    </a:ext>
                  </a:extLst>
                </a:gridCol>
              </a:tblGrid>
              <a:tr h="370840">
                <a:tc>
                  <a:txBody>
                    <a:bodyPr/>
                    <a:lstStyle/>
                    <a:p>
                      <a:r>
                        <a:rPr lang="en-US" dirty="0"/>
                        <a:t>HOURS</a:t>
                      </a:r>
                      <a:endParaRPr lang="en-IN" dirty="0"/>
                    </a:p>
                  </a:txBody>
                  <a:tcPr/>
                </a:tc>
                <a:tc>
                  <a:txBody>
                    <a:bodyPr/>
                    <a:lstStyle/>
                    <a:p>
                      <a:r>
                        <a:rPr lang="en-US" dirty="0"/>
                        <a:t>SCORES</a:t>
                      </a:r>
                      <a:endParaRPr lang="en-IN" dirty="0"/>
                    </a:p>
                  </a:txBody>
                  <a:tcPr/>
                </a:tc>
                <a:extLst>
                  <a:ext uri="{0D108BD9-81ED-4DB2-BD59-A6C34878D82A}">
                    <a16:rowId xmlns:a16="http://schemas.microsoft.com/office/drawing/2014/main" val="1425282267"/>
                  </a:ext>
                </a:extLst>
              </a:tr>
              <a:tr h="370840">
                <a:tc>
                  <a:txBody>
                    <a:bodyPr/>
                    <a:lstStyle/>
                    <a:p>
                      <a:pPr algn="r" fontAlgn="b">
                        <a:buNone/>
                      </a:pPr>
                      <a:r>
                        <a:rPr lang="en-IN" sz="1100" b="0" i="0" u="none" strike="noStrike" dirty="0">
                          <a:solidFill>
                            <a:srgbClr val="000000"/>
                          </a:solidFill>
                          <a:effectLst/>
                          <a:latin typeface="Calibri" panose="020F0502020204030204" pitchFamily="34" charset="0"/>
                        </a:rPr>
                        <a:t>2.5</a:t>
                      </a:r>
                    </a:p>
                  </a:txBody>
                  <a:tcPr marL="7620" marR="7620" marT="7620" marB="0" anchor="b"/>
                </a:tc>
                <a:tc>
                  <a:txBody>
                    <a:bodyPr/>
                    <a:lstStyle/>
                    <a:p>
                      <a:pPr algn="r" fontAlgn="b">
                        <a:buNone/>
                      </a:pPr>
                      <a:r>
                        <a:rPr lang="en-IN" sz="1100" b="0" i="0" u="none" strike="noStrike">
                          <a:solidFill>
                            <a:srgbClr val="000000"/>
                          </a:solidFill>
                          <a:effectLst/>
                          <a:latin typeface="Calibri" panose="020F0502020204030204" pitchFamily="34" charset="0"/>
                        </a:rPr>
                        <a:t>21</a:t>
                      </a:r>
                    </a:p>
                  </a:txBody>
                  <a:tcPr marL="7620" marR="7620" marT="7620" marB="0" anchor="b"/>
                </a:tc>
                <a:extLst>
                  <a:ext uri="{0D108BD9-81ED-4DB2-BD59-A6C34878D82A}">
                    <a16:rowId xmlns:a16="http://schemas.microsoft.com/office/drawing/2014/main" val="5572768"/>
                  </a:ext>
                </a:extLst>
              </a:tr>
              <a:tr h="370840">
                <a:tc>
                  <a:txBody>
                    <a:bodyPr/>
                    <a:lstStyle/>
                    <a:p>
                      <a:pPr algn="r" fontAlgn="b">
                        <a:buNone/>
                      </a:pPr>
                      <a:r>
                        <a:rPr lang="en-IN" sz="1100" b="0" i="0" u="none" strike="noStrike" dirty="0">
                          <a:solidFill>
                            <a:srgbClr val="000000"/>
                          </a:solidFill>
                          <a:effectLst/>
                          <a:latin typeface="Calibri" panose="020F0502020204030204" pitchFamily="34" charset="0"/>
                        </a:rPr>
                        <a:t>5.1</a:t>
                      </a:r>
                    </a:p>
                  </a:txBody>
                  <a:tcPr marL="7620" marR="7620" marT="7620" marB="0" anchor="b"/>
                </a:tc>
                <a:tc>
                  <a:txBody>
                    <a:bodyPr/>
                    <a:lstStyle/>
                    <a:p>
                      <a:pPr algn="r" fontAlgn="b">
                        <a:buNone/>
                      </a:pPr>
                      <a:r>
                        <a:rPr lang="en-IN" sz="1100" b="0" i="0" u="none" strike="noStrike">
                          <a:solidFill>
                            <a:srgbClr val="000000"/>
                          </a:solidFill>
                          <a:effectLst/>
                          <a:latin typeface="Calibri" panose="020F0502020204030204" pitchFamily="34" charset="0"/>
                        </a:rPr>
                        <a:t>47</a:t>
                      </a:r>
                    </a:p>
                  </a:txBody>
                  <a:tcPr marL="7620" marR="7620" marT="7620" marB="0" anchor="b"/>
                </a:tc>
                <a:extLst>
                  <a:ext uri="{0D108BD9-81ED-4DB2-BD59-A6C34878D82A}">
                    <a16:rowId xmlns:a16="http://schemas.microsoft.com/office/drawing/2014/main" val="2994558510"/>
                  </a:ext>
                </a:extLst>
              </a:tr>
              <a:tr h="370840">
                <a:tc>
                  <a:txBody>
                    <a:bodyPr/>
                    <a:lstStyle/>
                    <a:p>
                      <a:pPr algn="r" fontAlgn="b">
                        <a:buNone/>
                      </a:pPr>
                      <a:r>
                        <a:rPr lang="en-IN" sz="1100" b="0" i="0" u="none" strike="noStrike">
                          <a:solidFill>
                            <a:srgbClr val="000000"/>
                          </a:solidFill>
                          <a:effectLst/>
                          <a:latin typeface="Calibri" panose="020F0502020204030204" pitchFamily="34" charset="0"/>
                        </a:rPr>
                        <a:t>3.2</a:t>
                      </a:r>
                    </a:p>
                  </a:txBody>
                  <a:tcPr marL="7620" marR="7620" marT="7620" marB="0" anchor="b"/>
                </a:tc>
                <a:tc>
                  <a:txBody>
                    <a:bodyPr/>
                    <a:lstStyle/>
                    <a:p>
                      <a:pPr algn="r" fontAlgn="b">
                        <a:buNone/>
                      </a:pPr>
                      <a:r>
                        <a:rPr lang="en-IN" sz="1100" b="0" i="0" u="none" strike="noStrike">
                          <a:solidFill>
                            <a:srgbClr val="000000"/>
                          </a:solidFill>
                          <a:effectLst/>
                          <a:latin typeface="Calibri" panose="020F0502020204030204" pitchFamily="34" charset="0"/>
                        </a:rPr>
                        <a:t>27</a:t>
                      </a:r>
                    </a:p>
                  </a:txBody>
                  <a:tcPr marL="7620" marR="7620" marT="7620" marB="0" anchor="b"/>
                </a:tc>
                <a:extLst>
                  <a:ext uri="{0D108BD9-81ED-4DB2-BD59-A6C34878D82A}">
                    <a16:rowId xmlns:a16="http://schemas.microsoft.com/office/drawing/2014/main" val="3653823618"/>
                  </a:ext>
                </a:extLst>
              </a:tr>
              <a:tr h="370840">
                <a:tc>
                  <a:txBody>
                    <a:bodyPr/>
                    <a:lstStyle/>
                    <a:p>
                      <a:pPr algn="r" fontAlgn="b">
                        <a:buNone/>
                      </a:pPr>
                      <a:r>
                        <a:rPr lang="en-IN" sz="1100" b="0" i="0" u="none" strike="noStrike">
                          <a:solidFill>
                            <a:srgbClr val="000000"/>
                          </a:solidFill>
                          <a:effectLst/>
                          <a:latin typeface="Calibri" panose="020F0502020204030204" pitchFamily="34" charset="0"/>
                        </a:rPr>
                        <a:t>8.5</a:t>
                      </a:r>
                    </a:p>
                  </a:txBody>
                  <a:tcPr marL="7620" marR="7620" marT="7620" marB="0" anchor="b"/>
                </a:tc>
                <a:tc>
                  <a:txBody>
                    <a:bodyPr/>
                    <a:lstStyle/>
                    <a:p>
                      <a:pPr algn="r" fontAlgn="b">
                        <a:buNone/>
                      </a:pPr>
                      <a:r>
                        <a:rPr lang="en-IN" sz="1100" b="0" i="0" u="none" strike="noStrike">
                          <a:solidFill>
                            <a:srgbClr val="000000"/>
                          </a:solidFill>
                          <a:effectLst/>
                          <a:latin typeface="Calibri" panose="020F0502020204030204" pitchFamily="34" charset="0"/>
                        </a:rPr>
                        <a:t>75</a:t>
                      </a:r>
                    </a:p>
                  </a:txBody>
                  <a:tcPr marL="7620" marR="7620" marT="7620" marB="0" anchor="b"/>
                </a:tc>
                <a:extLst>
                  <a:ext uri="{0D108BD9-81ED-4DB2-BD59-A6C34878D82A}">
                    <a16:rowId xmlns:a16="http://schemas.microsoft.com/office/drawing/2014/main" val="3726555454"/>
                  </a:ext>
                </a:extLst>
              </a:tr>
              <a:tr h="370840">
                <a:tc>
                  <a:txBody>
                    <a:bodyPr/>
                    <a:lstStyle/>
                    <a:p>
                      <a:pPr algn="r" fontAlgn="b">
                        <a:buNone/>
                      </a:pPr>
                      <a:r>
                        <a:rPr lang="en-IN" sz="1100" b="0" i="0" u="none" strike="noStrike">
                          <a:solidFill>
                            <a:srgbClr val="000000"/>
                          </a:solidFill>
                          <a:effectLst/>
                          <a:latin typeface="Calibri" panose="020F0502020204030204" pitchFamily="34" charset="0"/>
                        </a:rPr>
                        <a:t>3.5</a:t>
                      </a:r>
                    </a:p>
                  </a:txBody>
                  <a:tcPr marL="7620" marR="7620" marT="7620" marB="0" anchor="b"/>
                </a:tc>
                <a:tc>
                  <a:txBody>
                    <a:bodyPr/>
                    <a:lstStyle/>
                    <a:p>
                      <a:pPr algn="r" fontAlgn="b">
                        <a:buNone/>
                      </a:pPr>
                      <a:r>
                        <a:rPr lang="en-IN" sz="1100" b="0" i="0" u="none" strike="noStrike" dirty="0">
                          <a:solidFill>
                            <a:srgbClr val="000000"/>
                          </a:solidFill>
                          <a:effectLst/>
                          <a:latin typeface="Calibri" panose="020F0502020204030204" pitchFamily="34" charset="0"/>
                        </a:rPr>
                        <a:t>30</a:t>
                      </a:r>
                    </a:p>
                  </a:txBody>
                  <a:tcPr marL="7620" marR="7620" marT="7620" marB="0" anchor="b"/>
                </a:tc>
                <a:extLst>
                  <a:ext uri="{0D108BD9-81ED-4DB2-BD59-A6C34878D82A}">
                    <a16:rowId xmlns:a16="http://schemas.microsoft.com/office/drawing/2014/main" val="599401081"/>
                  </a:ext>
                </a:extLst>
              </a:tr>
            </a:tbl>
          </a:graphicData>
        </a:graphic>
      </p:graphicFrame>
    </p:spTree>
    <p:extLst>
      <p:ext uri="{BB962C8B-B14F-4D97-AF65-F5344CB8AC3E}">
        <p14:creationId xmlns:p14="http://schemas.microsoft.com/office/powerpoint/2010/main" val="3854367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557F9-71E8-475E-DC21-D9D3DF6EE941}"/>
              </a:ext>
            </a:extLst>
          </p:cNvPr>
          <p:cNvSpPr>
            <a:spLocks noGrp="1"/>
          </p:cNvSpPr>
          <p:nvPr>
            <p:ph type="title"/>
          </p:nvPr>
        </p:nvSpPr>
        <p:spPr>
          <a:xfrm>
            <a:off x="1243403" y="1020829"/>
            <a:ext cx="9603275" cy="1049235"/>
          </a:xfrm>
        </p:spPr>
        <p:txBody>
          <a:bodyPr/>
          <a:lstStyle/>
          <a:p>
            <a:pPr algn="ctr"/>
            <a:r>
              <a:rPr lang="en-IN" dirty="0"/>
              <a:t> </a:t>
            </a:r>
            <a:r>
              <a:rPr lang="en-IN" b="1" u="sng" dirty="0"/>
              <a:t>Techniques Used</a:t>
            </a:r>
          </a:p>
        </p:txBody>
      </p:sp>
      <p:sp>
        <p:nvSpPr>
          <p:cNvPr id="3" name="Content Placeholder 2">
            <a:extLst>
              <a:ext uri="{FF2B5EF4-FFF2-40B4-BE49-F238E27FC236}">
                <a16:creationId xmlns:a16="http://schemas.microsoft.com/office/drawing/2014/main" id="{4EB6FF77-6719-8466-4457-9E60D6F9A613}"/>
              </a:ext>
            </a:extLst>
          </p:cNvPr>
          <p:cNvSpPr>
            <a:spLocks noGrp="1"/>
          </p:cNvSpPr>
          <p:nvPr>
            <p:ph idx="1"/>
          </p:nvPr>
        </p:nvSpPr>
        <p:spPr>
          <a:xfrm>
            <a:off x="1445342" y="1818968"/>
            <a:ext cx="6833419" cy="4149214"/>
          </a:xfrm>
        </p:spPr>
        <p:txBody>
          <a:bodyPr>
            <a:noAutofit/>
          </a:bodyPr>
          <a:lstStyle/>
          <a:p>
            <a:pPr marL="0" indent="0">
              <a:buNone/>
            </a:pPr>
            <a:r>
              <a:rPr lang="en-US" dirty="0"/>
              <a:t>⿢ Data Preprocessing</a:t>
            </a:r>
          </a:p>
          <a:p>
            <a:pPr marL="0" indent="0">
              <a:buNone/>
            </a:pPr>
            <a:r>
              <a:rPr lang="en-US" dirty="0"/>
              <a:t>Clean data</a:t>
            </a:r>
          </a:p>
          <a:p>
            <a:pPr marL="0" indent="0">
              <a:buNone/>
            </a:pPr>
            <a:r>
              <a:rPr lang="en-US" dirty="0"/>
              <a:t>Load into </a:t>
            </a:r>
            <a:r>
              <a:rPr lang="en-US" sz="1800" dirty="0"/>
              <a:t>Pandas</a:t>
            </a:r>
            <a:endParaRPr lang="en-US" dirty="0"/>
          </a:p>
          <a:p>
            <a:pPr marL="0" indent="0">
              <a:buNone/>
            </a:pPr>
            <a:r>
              <a:rPr lang="en-US" dirty="0"/>
              <a:t>Split into X (Hours) and Y (Marks)</a:t>
            </a:r>
          </a:p>
          <a:p>
            <a:pPr marL="0" indent="0">
              <a:buNone/>
            </a:pPr>
            <a:r>
              <a:rPr lang="en-US" dirty="0"/>
              <a:t>Train–test split (80–20)</a:t>
            </a:r>
          </a:p>
          <a:p>
            <a:pPr marL="0" indent="0">
              <a:buNone/>
            </a:pPr>
            <a:r>
              <a:rPr lang="en-US" dirty="0"/>
              <a:t>⿣ Exploratory Data Analysis</a:t>
            </a:r>
          </a:p>
          <a:p>
            <a:pPr marL="0" indent="0">
              <a:buNone/>
            </a:pPr>
            <a:r>
              <a:rPr lang="en-US" dirty="0"/>
              <a:t>Scatter plot (Hours vs Marks)</a:t>
            </a:r>
          </a:p>
          <a:p>
            <a:pPr marL="0" indent="0">
              <a:buNone/>
            </a:pPr>
            <a:r>
              <a:rPr lang="en-US" dirty="0"/>
              <a:t>Check correlation</a:t>
            </a:r>
          </a:p>
          <a:p>
            <a:pPr marL="0" indent="0">
              <a:buNone/>
            </a:pPr>
            <a:r>
              <a:rPr lang="en-US" dirty="0"/>
              <a:t>Identify linear pattern</a:t>
            </a:r>
          </a:p>
        </p:txBody>
      </p:sp>
    </p:spTree>
    <p:extLst>
      <p:ext uri="{BB962C8B-B14F-4D97-AF65-F5344CB8AC3E}">
        <p14:creationId xmlns:p14="http://schemas.microsoft.com/office/powerpoint/2010/main" val="287004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0A640-A8FB-2ECF-E904-65C54278F7C7}"/>
              </a:ext>
            </a:extLst>
          </p:cNvPr>
          <p:cNvSpPr>
            <a:spLocks noGrp="1"/>
          </p:cNvSpPr>
          <p:nvPr>
            <p:ph type="title"/>
          </p:nvPr>
        </p:nvSpPr>
        <p:spPr/>
        <p:txBody>
          <a:bodyPr/>
          <a:lstStyle/>
          <a:p>
            <a:pPr algn="ctr"/>
            <a:r>
              <a:rPr lang="en-US" b="1" u="sng" dirty="0"/>
              <a:t>screenshot</a:t>
            </a:r>
            <a:endParaRPr lang="en-IN" b="1" u="sng" dirty="0"/>
          </a:p>
        </p:txBody>
      </p:sp>
      <p:pic>
        <p:nvPicPr>
          <p:cNvPr id="5" name="Content Placeholder 4">
            <a:extLst>
              <a:ext uri="{FF2B5EF4-FFF2-40B4-BE49-F238E27FC236}">
                <a16:creationId xmlns:a16="http://schemas.microsoft.com/office/drawing/2014/main" id="{861A4CAC-BF34-2078-C9AB-13DC08715B41}"/>
              </a:ext>
            </a:extLst>
          </p:cNvPr>
          <p:cNvPicPr>
            <a:picLocks noGrp="1" noChangeAspect="1"/>
          </p:cNvPicPr>
          <p:nvPr>
            <p:ph idx="1"/>
          </p:nvPr>
        </p:nvPicPr>
        <p:blipFill>
          <a:blip r:embed="rId2"/>
          <a:stretch>
            <a:fillRect/>
          </a:stretch>
        </p:blipFill>
        <p:spPr>
          <a:xfrm>
            <a:off x="2702927" y="2104103"/>
            <a:ext cx="6919383" cy="3361660"/>
          </a:xfrm>
        </p:spPr>
      </p:pic>
    </p:spTree>
    <p:extLst>
      <p:ext uri="{BB962C8B-B14F-4D97-AF65-F5344CB8AC3E}">
        <p14:creationId xmlns:p14="http://schemas.microsoft.com/office/powerpoint/2010/main" val="3653129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A0935-6F6F-FF82-73A0-AA9885A1C091}"/>
              </a:ext>
            </a:extLst>
          </p:cNvPr>
          <p:cNvSpPr>
            <a:spLocks noGrp="1"/>
          </p:cNvSpPr>
          <p:nvPr>
            <p:ph type="title"/>
          </p:nvPr>
        </p:nvSpPr>
        <p:spPr/>
        <p:txBody>
          <a:bodyPr/>
          <a:lstStyle/>
          <a:p>
            <a:pPr algn="ctr"/>
            <a:r>
              <a:rPr lang="en-US" b="1" u="sng" dirty="0"/>
              <a:t>conclusion</a:t>
            </a:r>
            <a:endParaRPr lang="en-IN" b="1" u="sng" dirty="0"/>
          </a:p>
        </p:txBody>
      </p:sp>
      <p:sp>
        <p:nvSpPr>
          <p:cNvPr id="3" name="Content Placeholder 2">
            <a:extLst>
              <a:ext uri="{FF2B5EF4-FFF2-40B4-BE49-F238E27FC236}">
                <a16:creationId xmlns:a16="http://schemas.microsoft.com/office/drawing/2014/main" id="{6B2836ED-028D-7C94-EE32-071E46EAF074}"/>
              </a:ext>
            </a:extLst>
          </p:cNvPr>
          <p:cNvSpPr>
            <a:spLocks noGrp="1"/>
          </p:cNvSpPr>
          <p:nvPr>
            <p:ph idx="1"/>
          </p:nvPr>
        </p:nvSpPr>
        <p:spPr>
          <a:xfrm>
            <a:off x="1451580" y="2015732"/>
            <a:ext cx="8636318" cy="3450613"/>
          </a:xfrm>
        </p:spPr>
        <p:txBody>
          <a:bodyPr>
            <a:normAutofit/>
          </a:bodyPr>
          <a:lstStyle/>
          <a:p>
            <a:r>
              <a:rPr lang="en-US" sz="2400" dirty="0"/>
              <a:t>The Linear Regression model successfully predicts student marks based on hours studied. Results show a strong positive relationship: as study time increases, marks also increase. The model is simple, accurate for small datasets, and easy to interpret.This project demonstrates how machine learning can be used to forecast academic performance and support better study planning.</a:t>
            </a:r>
            <a:endParaRPr lang="en-IN" sz="2400" dirty="0"/>
          </a:p>
        </p:txBody>
      </p:sp>
    </p:spTree>
    <p:extLst>
      <p:ext uri="{BB962C8B-B14F-4D97-AF65-F5344CB8AC3E}">
        <p14:creationId xmlns:p14="http://schemas.microsoft.com/office/powerpoint/2010/main" val="107331890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69</TotalTime>
  <Words>188</Words>
  <Application>Microsoft Office PowerPoint</Application>
  <PresentationFormat>Widescreen</PresentationFormat>
  <Paragraphs>34</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 Display</vt:lpstr>
      <vt:lpstr>Arial</vt:lpstr>
      <vt:lpstr>Arial Rounded MT Bold</vt:lpstr>
      <vt:lpstr>Calibri</vt:lpstr>
      <vt:lpstr>Gill Sans MT</vt:lpstr>
      <vt:lpstr>Gallery</vt:lpstr>
      <vt:lpstr>Predict student marks from hours studied</vt:lpstr>
      <vt:lpstr>introduction</vt:lpstr>
      <vt:lpstr>Datasets</vt:lpstr>
      <vt:lpstr> Techniques Used</vt:lpstr>
      <vt:lpstr>screenshot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Kartik Shiragur</dc:creator>
  <cp:lastModifiedBy>Kartik Shiragur</cp:lastModifiedBy>
  <cp:revision>5</cp:revision>
  <dcterms:created xsi:type="dcterms:W3CDTF">2025-12-04T13:12:36Z</dcterms:created>
  <dcterms:modified xsi:type="dcterms:W3CDTF">2025-12-06T13:33:02Z</dcterms:modified>
</cp:coreProperties>
</file>